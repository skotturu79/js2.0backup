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00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47488"/>
            <a:ext cx="12188952" cy="109728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4400" i="0">
                <a:solidFill>
                  <a:srgbClr val="F0AB00"/>
                </a:solidFill>
              </a:rPr>
              <a:t>SAP EWM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4400" i="0">
                <a:solidFill>
                  <a:srgbClr val="FFFFFF"/>
                </a:solidFill>
              </a:rPr>
              <a:t>Warehouse AI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23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800" i="0">
                <a:solidFill>
                  <a:srgbClr val="AACCFF"/>
                </a:solidFill>
              </a:rPr>
              <a:t>Conversational AI for SAP S/4HANA Extended Warehouse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71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50" i="0">
                <a:solidFill>
                  <a:srgbClr val="88AADD"/>
                </a:solidFill>
              </a:rPr>
              <a:t>13 Skills  ·  47 Tools  ·  18 SAP API Surfaces  ·  LangGraph + GPT-4.1  ·  A2A JSON-RPC 2.0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749039"/>
            <a:ext cx="2377440" cy="96012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3822191"/>
            <a:ext cx="2231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400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4343400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50" i="0">
                <a:solidFill>
                  <a:srgbClr val="FFFFFF"/>
                </a:solidFill>
              </a:rPr>
              <a:t>Skills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3749039"/>
            <a:ext cx="2377440" cy="960120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9272" y="3822191"/>
            <a:ext cx="2231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400" i="0">
                <a:solidFill>
                  <a:srgbClr val="FFFFFF"/>
                </a:solidFill>
              </a:rPr>
              <a:t>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4343400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50" i="0">
                <a:solidFill>
                  <a:srgbClr val="FFFFFF"/>
                </a:solidFill>
              </a:rPr>
              <a:t>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3749039"/>
            <a:ext cx="2377440" cy="96012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62472" y="3822191"/>
            <a:ext cx="2231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400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4343400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50" i="0">
                <a:solidFill>
                  <a:srgbClr val="FFFFFF"/>
                </a:solidFill>
              </a:rPr>
              <a:t>API Surfaces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3749039"/>
            <a:ext cx="2377440" cy="960120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05672" y="3822191"/>
            <a:ext cx="2231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40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4343400"/>
            <a:ext cx="2231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50" i="0">
                <a:solidFill>
                  <a:srgbClr val="FFFFFF"/>
                </a:solidFill>
              </a:rPr>
              <a:t>Interfaces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3036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 i="0">
                <a:solidFill>
                  <a:srgbClr val="88AADD"/>
                </a:solidFill>
              </a:rPr>
              <a:t>FGF Brands — D4H-200  ·  Warehouse PBAR  ·  Plant BAR1  ·  Cloud Foundry (BTP us10-001)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577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 i="0">
                <a:solidFill>
                  <a:srgbClr val="88AADD"/>
                </a:solidFill>
              </a:rPr>
              <a:t>Interfaces: Browser Chat UI  ·  Desktop Floating Widget  ·  SAP Joule Desktop (MCP)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BB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000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CCE4FF"/>
                </a:solidFill>
              </a:rPr>
              <a:t>Warehouse operators spend too much time navigating SAP — and still can't do everything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44168"/>
            <a:ext cx="12188952" cy="64008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4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28816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55606E"/>
                </a:solidFill>
              </a:rPr>
              <a:t>FGF Brands · D4H-200 · SAP EWM Warehouse AI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72768"/>
            <a:ext cx="5669280" cy="2121408"/>
          </a:xfrm>
          <a:prstGeom prst="rect">
            <a:avLst/>
          </a:prstGeom>
          <a:solidFill>
            <a:srgbClr val="FFFFFF"/>
          </a:solidFill>
          <a:ln w="15240">
            <a:solidFill>
              <a:srgbClr val="BB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72768"/>
            <a:ext cx="5669280" cy="402336"/>
          </a:xfrm>
          <a:prstGeom prst="rect">
            <a:avLst/>
          </a:prstGeom>
          <a:solidFill>
            <a:srgbClr val="BB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16459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⏱  Too Many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2048256"/>
            <a:ext cx="5413248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55606E"/>
                </a:solidFill>
              </a:rPr>
              <a:t>A single stock check, inbound delivery review, or task confirmation requires navigating 3–5 SAP transactions. Warehouse supervisors lose hours per day switching between EWM, MM, and PP views.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72768"/>
            <a:ext cx="5669280" cy="2121408"/>
          </a:xfrm>
          <a:prstGeom prst="rect">
            <a:avLst/>
          </a:prstGeom>
          <a:solidFill>
            <a:srgbClr val="FFFFFF"/>
          </a:solidFill>
          <a:ln w="15240">
            <a:solidFill>
              <a:srgbClr val="BB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572768"/>
            <a:ext cx="5669280" cy="402336"/>
          </a:xfrm>
          <a:prstGeom prst="rect">
            <a:avLst/>
          </a:prstGeom>
          <a:solidFill>
            <a:srgbClr val="BB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6459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🔒  Write Operations Locked 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048256"/>
            <a:ext cx="5413248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55606E"/>
                </a:solidFill>
              </a:rPr>
              <a:t>Standard SAP interfaces require deep transaction knowledge to post a GR, confirm a task, or execute an STO. One wrong entry can cause stock discrepancies — so operators escalate to supervisors.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858768"/>
            <a:ext cx="5669280" cy="2121408"/>
          </a:xfrm>
          <a:prstGeom prst="rect">
            <a:avLst/>
          </a:prstGeom>
          <a:solidFill>
            <a:srgbClr val="FFFFFF"/>
          </a:solidFill>
          <a:ln w="15240">
            <a:solidFill>
              <a:srgbClr val="BB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858768"/>
            <a:ext cx="5669280" cy="402336"/>
          </a:xfrm>
          <a:prstGeom prst="rect">
            <a:avLst/>
          </a:prstGeom>
          <a:solidFill>
            <a:srgbClr val="BB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" y="39319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📦  No HU-Level GR in Standard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" y="4334256"/>
            <a:ext cx="5413248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55606E"/>
                </a:solidFill>
              </a:rPr>
              <a:t>SAP's released OData APIs can only post GR for a full delivery or per-item quantities — there is no standard way to receive just 2 of 10 handling units on a delivery line. This forces manual workarounds.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858768"/>
            <a:ext cx="5669280" cy="2121408"/>
          </a:xfrm>
          <a:prstGeom prst="rect">
            <a:avLst/>
          </a:prstGeom>
          <a:solidFill>
            <a:srgbClr val="FFFFFF"/>
          </a:solidFill>
          <a:ln w="15240">
            <a:solidFill>
              <a:srgbClr val="BB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858768"/>
            <a:ext cx="5669280" cy="402336"/>
          </a:xfrm>
          <a:prstGeom prst="rect">
            <a:avLst/>
          </a:prstGeom>
          <a:solidFill>
            <a:srgbClr val="BB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319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🔌  Disconnected Touchpoints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334256"/>
            <a:ext cx="5413248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55606E"/>
                </a:solidFill>
              </a:rPr>
              <a:t>Warehouse staff use SAP GUI, Fiori, mobile scanners, and Joule — but none share context. There is no single conversational interface that spans stock, tasks, deliveries, production, and write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000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CCE4FF"/>
                </a:solidFill>
              </a:rPr>
              <a:t>One conversational AI agent — plain English in, SAP actions 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44168"/>
            <a:ext cx="12188952" cy="6400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4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28816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55606E"/>
                </a:solidFill>
              </a:rPr>
              <a:t>FGF Brands · D4H-200 · SAP EWM Warehouse AI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53311" y="1536192"/>
            <a:ext cx="1691640" cy="1417320"/>
          </a:xfrm>
          <a:prstGeom prst="rect">
            <a:avLst/>
          </a:prstGeom>
          <a:solidFill>
            <a:srgbClr val="33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8175" y="1600200"/>
            <a:ext cx="1600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 i="0">
                <a:solidFill>
                  <a:srgbClr val="FFFFFF"/>
                </a:solidFill>
              </a:rPr>
              <a:t>👤
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3" y="192024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 i="0">
                <a:solidFill>
                  <a:srgbClr val="006DD7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00983" y="1536192"/>
            <a:ext cx="1691640" cy="141732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7" y="1600200"/>
            <a:ext cx="1600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 i="0">
                <a:solidFill>
                  <a:srgbClr val="FFFFFF"/>
                </a:solidFill>
              </a:rPr>
              <a:t>💬
Chat / Widget
/ Joule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0055" y="192024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 i="0">
                <a:solidFill>
                  <a:srgbClr val="006DD7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48655" y="1536192"/>
            <a:ext cx="1691640" cy="1417320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19" y="1600200"/>
            <a:ext cx="1600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 i="0">
                <a:solidFill>
                  <a:srgbClr val="FFFFFF"/>
                </a:solidFill>
              </a:rPr>
              <a:t>🧠
LangGraph
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192024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 i="0">
                <a:solidFill>
                  <a:srgbClr val="006DD7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96327" y="1536192"/>
            <a:ext cx="1691640" cy="1417320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51191" y="1600200"/>
            <a:ext cx="1600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 i="0">
                <a:solidFill>
                  <a:srgbClr val="FFFFFF"/>
                </a:solidFill>
              </a:rPr>
              <a:t>🔧
47 SAP
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399" y="192024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 i="0">
                <a:solidFill>
                  <a:srgbClr val="006DD7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536192"/>
            <a:ext cx="1691640" cy="1417320"/>
          </a:xfrm>
          <a:prstGeom prst="rect">
            <a:avLst/>
          </a:prstGeom>
          <a:solidFill>
            <a:srgbClr val="55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98864" y="1600200"/>
            <a:ext cx="1600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 i="0">
                <a:solidFill>
                  <a:srgbClr val="FFFFFF"/>
                </a:solidFill>
              </a:rPr>
              <a:t>🏭
SAP EWM
D4H-200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154680"/>
            <a:ext cx="566928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8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154680"/>
            <a:ext cx="91440" cy="1417320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324612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 i="0">
                <a:solidFill>
                  <a:srgbClr val="188F30"/>
                </a:solidFill>
              </a:rPr>
              <a:t>🗣 Plain English Interface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3575304"/>
            <a:ext cx="53492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55606E"/>
                </a:solidFill>
              </a:rPr>
              <a:t>Ask in natural language — "Post GR for HU P21234" or "Show stock for 1111044 in PBAR". The LangGraph reasoning loop selects the right tool, calls SAP, and returns the answer.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154680"/>
            <a:ext cx="566928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8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154680"/>
            <a:ext cx="91440" cy="1417320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4612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 i="0">
                <a:solidFill>
                  <a:srgbClr val="188F30"/>
                </a:solidFill>
              </a:rPr>
              <a:t>✅ Safe Write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3575304"/>
            <a:ext cx="53492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55606E"/>
                </a:solidFill>
              </a:rPr>
              <a:t>Every write — task confirmation, GR posting, STO execution — is gated by a single confirmation block. SAP errors are relayed verbatim. A test-run mode validates without posting.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690872"/>
            <a:ext cx="566928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8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4690872"/>
            <a:ext cx="91440" cy="1417320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7" y="478231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 i="0">
                <a:solidFill>
                  <a:srgbClr val="188F30"/>
                </a:solidFill>
              </a:rPr>
              <a:t>📦 HU-Level GR (Custom FM)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7" y="5111496"/>
            <a:ext cx="53492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55606E"/>
                </a:solidFill>
              </a:rPr>
              <a:t>Custom ABAP FM Z_EWM_GR_HU_POST3 fills the gap the standard OData API leaves: post GR for specific handling units only, leaving others open on the same delivery line.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690872"/>
            <a:ext cx="566928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8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690872"/>
            <a:ext cx="91440" cy="1417320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478231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 i="0">
                <a:solidFill>
                  <a:srgbClr val="188F30"/>
                </a:solidFill>
              </a:rPr>
              <a:t>🔌 Three Access Points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5111496"/>
            <a:ext cx="53492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55606E"/>
                </a:solidFill>
              </a:rPr>
              <a:t>Browser chat UI, Windows floating desktop widget (Ctrl+Shift+J over SAP GUI), and SAP Joule Desktop via MCP HTTP proxy — same backend, same 47 tools everywhere.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000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CCE4FF"/>
                </a:solidFill>
              </a:rPr>
              <a:t>13 skills · 47 tools · 18 SAP API surfaces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4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28816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55606E"/>
                </a:solidFill>
              </a:rPr>
              <a:t>FGF Brands · D4H-200 · SAP EWM Warehouse AI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444752"/>
            <a:ext cx="361188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444752"/>
            <a:ext cx="3611880" cy="384048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517904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 i="0">
                <a:solidFill>
                  <a:srgbClr val="FFFFFF"/>
                </a:solidFill>
              </a:rPr>
              <a:t>📦 Stock — 3 Skills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048256"/>
            <a:ext cx="73152" cy="73152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938528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1A1A2E"/>
                </a:solidFill>
              </a:rPr>
              <a:t>MM plant/SLoc/batch stock (OData V2)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523744"/>
            <a:ext cx="73152" cy="73152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414016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1A1A2E"/>
                </a:solidFill>
              </a:rPr>
              <a:t>EWM bin-level available + physical stock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999232"/>
            <a:ext cx="73152" cy="73152"/>
          </a:xfrm>
          <a:prstGeom prst="rect">
            <a:avLst/>
          </a:prstGeom>
          <a:solidFill>
            <a:srgbClr val="00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889504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1A1A2E"/>
                </a:solidFill>
              </a:rPr>
              <a:t>Cross-warehouse stock — all 34 warehouses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50792" y="1444752"/>
            <a:ext cx="361188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078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50792" y="1444752"/>
            <a:ext cx="3611880" cy="384048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78808" y="1517904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 i="0">
                <a:solidFill>
                  <a:srgbClr val="FFFFFF"/>
                </a:solidFill>
              </a:rPr>
              <a:t>🚚 Inbound &amp; Outbound — 2 Skills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78808" y="2048256"/>
            <a:ext cx="73152" cy="73152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5112" y="1938528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1A1A2E"/>
                </a:solidFill>
              </a:rPr>
              <a:t>Inbound delivery headers, items, doc 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78808" y="2523744"/>
            <a:ext cx="73152" cy="73152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5112" y="2414016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1A1A2E"/>
                </a:solidFill>
              </a:rPr>
              <a:t>EWM outbound delivery orders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8808" y="2999232"/>
            <a:ext cx="73152" cy="73152"/>
          </a:xfrm>
          <a:prstGeom prst="rect">
            <a:avLst/>
          </a:prstGeom>
          <a:solidFill>
            <a:srgbClr val="07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25112" y="2889504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1A1A2E"/>
                </a:solidFill>
              </a:rPr>
              <a:t>GR: full / partial / HU-level (custom FM)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45552" y="1444752"/>
            <a:ext cx="361188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188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45552" y="1444752"/>
            <a:ext cx="3611880" cy="384048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8" y="1517904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 i="0">
                <a:solidFill>
                  <a:srgbClr val="FFFFFF"/>
                </a:solidFill>
              </a:rPr>
              <a:t>✅ Write Operations — 4 Skills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73568" y="2048256"/>
            <a:ext cx="73152" cy="73152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9872" y="1938528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1A1A2E"/>
                </a:solidFill>
              </a:rPr>
              <a:t>EWM task confirmation with qty + bin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73568" y="2523744"/>
            <a:ext cx="73152" cy="73152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9872" y="2414016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1A1A2E"/>
                </a:solidFill>
              </a:rPr>
              <a:t>HU-level GR via Z_EWM_GR_HU_POST3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73568" y="2999232"/>
            <a:ext cx="73152" cy="73152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9872" y="2889504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1A1A2E"/>
                </a:solidFill>
              </a:rPr>
              <a:t>STO one-shot: create + GI 351 + GR 101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73568" y="3474720"/>
            <a:ext cx="73152" cy="73152"/>
          </a:xfrm>
          <a:prstGeom prst="rect">
            <a:avLst/>
          </a:prstGeom>
          <a:solidFill>
            <a:srgbClr val="18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19872" y="3364992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1A1A2E"/>
                </a:solidFill>
              </a:rPr>
              <a:t>GR mvt 101 for inbound delivery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941064"/>
            <a:ext cx="361188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6E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6032" y="3941064"/>
            <a:ext cx="3611880" cy="384048"/>
          </a:xfrm>
          <a:prstGeom prst="rect">
            <a:avLst/>
          </a:prstGeom>
          <a:solidFill>
            <a:srgbClr val="6E0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40142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 i="0">
                <a:solidFill>
                  <a:srgbClr val="FFFFFF"/>
                </a:solidFill>
              </a:rPr>
              <a:t>🏗 Production — 2 Skills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" y="4544568"/>
            <a:ext cx="73152" cy="73152"/>
          </a:xfrm>
          <a:prstGeom prst="rect">
            <a:avLst/>
          </a:prstGeom>
          <a:solidFill>
            <a:srgbClr val="6E0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4434840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1A1A2E"/>
                </a:solidFill>
              </a:rPr>
              <a:t>Order status, BOM components, routing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5020056"/>
            <a:ext cx="73152" cy="73152"/>
          </a:xfrm>
          <a:prstGeom prst="rect">
            <a:avLst/>
          </a:prstGeom>
          <a:solidFill>
            <a:srgbClr val="6E0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4910328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1A1A2E"/>
                </a:solidFill>
              </a:rPr>
              <a:t>GI for production + confirmation + GR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5495544"/>
            <a:ext cx="73152" cy="73152"/>
          </a:xfrm>
          <a:prstGeom prst="rect">
            <a:avLst/>
          </a:prstGeom>
          <a:solidFill>
            <a:srgbClr val="6E0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5385816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1A1A2E"/>
                </a:solidFill>
              </a:rPr>
              <a:t>BAPI + OData V2 (dual path)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50792" y="3941064"/>
            <a:ext cx="361188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F0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050792" y="3941064"/>
            <a:ext cx="3611880" cy="384048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78808" y="40142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 i="0">
                <a:solidFill>
                  <a:srgbClr val="FFFFFF"/>
                </a:solidFill>
              </a:rPr>
              <a:t>🏭 EWM Master — 3 Skills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78808" y="4544568"/>
            <a:ext cx="73152" cy="73152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25112" y="4434840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1A1A2E"/>
                </a:solidFill>
              </a:rPr>
              <a:t>Storage bins + fixed assignments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78808" y="5020056"/>
            <a:ext cx="73152" cy="73152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25112" y="4910328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1A1A2E"/>
                </a:solidFill>
              </a:rPr>
              <a:t>Physical inventory docs + count items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78808" y="5495544"/>
            <a:ext cx="73152" cy="73152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25112" y="5385816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1A1A2E"/>
                </a:solidFill>
              </a:rPr>
              <a:t>Warehouses, storage types, resources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45552" y="3941064"/>
            <a:ext cx="361188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05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845552" y="3941064"/>
            <a:ext cx="3611880" cy="384048"/>
          </a:xfrm>
          <a:prstGeom prst="rect">
            <a:avLst/>
          </a:prstGeom>
          <a:solidFill>
            <a:srgbClr val="C05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73568" y="40142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50" i="0">
                <a:solidFill>
                  <a:srgbClr val="FFFFFF"/>
                </a:solidFill>
              </a:rPr>
              <a:t>🔌 3 Access Interfaces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73568" y="4544568"/>
            <a:ext cx="73152" cy="73152"/>
          </a:xfrm>
          <a:prstGeom prst="rect">
            <a:avLst/>
          </a:prstGeom>
          <a:solidFill>
            <a:srgbClr val="C05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19872" y="4434840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1A1A2E"/>
                </a:solidFill>
              </a:rPr>
              <a:t>Browser chat UI (Cloud Foundry)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73568" y="5020056"/>
            <a:ext cx="73152" cy="73152"/>
          </a:xfrm>
          <a:prstGeom prst="rect">
            <a:avLst/>
          </a:prstGeom>
          <a:solidFill>
            <a:srgbClr val="C05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19872" y="4910328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1A1A2E"/>
                </a:solidFill>
              </a:rPr>
              <a:t>Desktop widget — Ctrl+Shift+J (tkinter)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73568" y="5495544"/>
            <a:ext cx="73152" cy="73152"/>
          </a:xfrm>
          <a:prstGeom prst="rect">
            <a:avLst/>
          </a:prstGeom>
          <a:solidFill>
            <a:srgbClr val="C05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19872" y="5385816"/>
            <a:ext cx="3227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50" i="0">
                <a:solidFill>
                  <a:srgbClr val="1A1A2E"/>
                </a:solidFill>
              </a:rPr>
              <a:t>SAP Joule Desktop — MCP HTTP proxy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