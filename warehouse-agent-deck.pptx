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0" y="0"/>
            <a:ext cx="9445752" cy="6858000"/>
          </a:xfrm>
          <a:prstGeom prst="rect">
            <a:avLst/>
          </a:prstGeom>
          <a:solidFill>
            <a:srgbClr val="004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</a:rPr>
              <a:t>SAP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C8E3"/>
                </a:solidFill>
              </a:rPr>
              <a:t>BTP  ·  A2A  ·  LangGraph  ·  AI Core  ·  EWM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Warehouse AI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Conversational Intelligence for SAP S/4HANA EWM
From Stock Queries to Goods Movements — in Natural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20440"/>
            <a:ext cx="3017520" cy="320040"/>
          </a:xfrm>
          <a:prstGeom prst="rect">
            <a:avLst/>
          </a:prstGeom>
          <a:solidFill>
            <a:srgbClr val="003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5478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EFF"/>
                </a:solidFill>
              </a:rPr>
              <a:t>● FGF Brands — D4H-200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3520440"/>
            <a:ext cx="3017520" cy="320040"/>
          </a:xfrm>
          <a:prstGeom prst="rect">
            <a:avLst/>
          </a:prstGeom>
          <a:solidFill>
            <a:srgbClr val="003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0" y="35478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EFF"/>
                </a:solidFill>
              </a:rPr>
              <a:t>● PBAR Warehouse · BAR1 Plant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3520440"/>
            <a:ext cx="3017520" cy="320040"/>
          </a:xfrm>
          <a:prstGeom prst="rect">
            <a:avLst/>
          </a:prstGeom>
          <a:solidFill>
            <a:srgbClr val="003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35478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EFF"/>
                </a:solidFill>
              </a:rPr>
              <a:t>● GPT-4.1 via SAP AI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7EC8E3"/>
                </a:solidFill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AI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160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7EC8E3"/>
                </a:solidFill>
              </a:rPr>
              <a:t>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37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SAP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160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7EC8E3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937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Tenants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160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7EC8E3"/>
                </a:solidFill>
              </a:rPr>
              <a:t>A2A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937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Agent 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FGF Brands Primary Deployment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Warehouse Operations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CCDD"/>
                </a:solidFill>
              </a:rPr>
              <a:t>Data lives in SAP — but insight requires navigation, not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9919A"/>
                </a:solidFill>
              </a:rPr>
              <a:t>SAP EWM · S/4HANA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749039" cy="2194560"/>
          </a:xfrm>
          <a:prstGeom prst="rect">
            <a:avLst/>
          </a:prstGeom>
          <a:solidFill>
            <a:srgbClr val="F5F6F7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4864" cy="219456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234440"/>
            <a:ext cx="3584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2363A"/>
                </a:solidFill>
              </a:rPr>
              <a:t>Transaction-Driven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490472"/>
            <a:ext cx="3584447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A6D70"/>
                </a:solidFill>
              </a:rPr>
              <a:t>Staff navigate 10+ SAP transactions (LT01, MB51, MIGO, LI01…) to answer basic questions every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8807" y="1143000"/>
            <a:ext cx="3749039" cy="2194560"/>
          </a:xfrm>
          <a:prstGeom prst="rect">
            <a:avLst/>
          </a:prstGeom>
          <a:solidFill>
            <a:srgbClr val="F5F6F7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78807" y="1143000"/>
            <a:ext cx="54864" cy="219456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88535" y="1234440"/>
            <a:ext cx="3584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2363A"/>
                </a:solidFill>
              </a:rPr>
              <a:t>No Cross-Domain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5" y="1490472"/>
            <a:ext cx="3584447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A6D70"/>
                </a:solidFill>
              </a:rPr>
              <a:t>EWM bin stock, MM inventory, production orders, and deliveries have no unified conversational 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4" y="1143000"/>
            <a:ext cx="3749039" cy="2194560"/>
          </a:xfrm>
          <a:prstGeom prst="rect">
            <a:avLst/>
          </a:prstGeom>
          <a:solidFill>
            <a:srgbClr val="F5F6F7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4" y="1143000"/>
            <a:ext cx="54864" cy="219456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3022" y="1234440"/>
            <a:ext cx="3584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2363A"/>
                </a:solidFill>
              </a:rPr>
              <a:t>Manual, Time-Consuming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2" y="1490472"/>
            <a:ext cx="3584447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A6D70"/>
                </a:solidFill>
              </a:rPr>
              <a:t>Goods receipts, task confirmations, and stock transfers require SAPGUI and multiple form steps.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93008"/>
            <a:ext cx="3749039" cy="2194560"/>
          </a:xfrm>
          <a:prstGeom prst="rect">
            <a:avLst/>
          </a:prstGeom>
          <a:solidFill>
            <a:srgbClr val="F5F6F7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3493008"/>
            <a:ext cx="54864" cy="219456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3584448"/>
            <a:ext cx="3584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2363A"/>
                </a:solidFill>
              </a:rPr>
              <a:t>No Lightweight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840480"/>
            <a:ext cx="3584447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A6D70"/>
                </a:solidFill>
              </a:rPr>
              <a:t>Shop floor workers cannot query bin stock or confirm tasks without full SAP GUI on a desktop.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8807" y="3493008"/>
            <a:ext cx="3749039" cy="2194560"/>
          </a:xfrm>
          <a:prstGeom prst="rect">
            <a:avLst/>
          </a:prstGeom>
          <a:solidFill>
            <a:srgbClr val="F5F6F7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78807" y="3493008"/>
            <a:ext cx="54864" cy="219456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88535" y="3584448"/>
            <a:ext cx="3584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2363A"/>
                </a:solidFill>
              </a:rPr>
              <a:t>Joule EWM Coverage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8535" y="3840480"/>
            <a:ext cx="3584447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A6D70"/>
                </a:solidFill>
              </a:rPr>
              <a:t>SAP Joule lacks deep EWM — bin stock, task management, HU-level GR, and goods movement are absent.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3294" y="3493008"/>
            <a:ext cx="3749039" cy="2194560"/>
          </a:xfrm>
          <a:prstGeom prst="rect">
            <a:avLst/>
          </a:prstGeom>
          <a:solidFill>
            <a:srgbClr val="F5F6F7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83294" y="3493008"/>
            <a:ext cx="54864" cy="219456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93022" y="3584448"/>
            <a:ext cx="3584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2363A"/>
                </a:solidFill>
              </a:rPr>
              <a:t>AI Projects Take Too Long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2" y="3840480"/>
            <a:ext cx="3584447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A6D70"/>
                </a:solidFill>
              </a:rPr>
              <a:t>Traditional AI for warehouse ops takes 8–12 months and rare SAP + ML specialists. No reuse.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19A"/>
                </a:solidFill>
              </a:rPr>
              <a:t>FGF Brands — D4H-200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19A"/>
                </a:solidFill>
              </a:rPr>
              <a:t>Warehouse AI Agent · SAP S/4HANA EWM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CCDD"/>
                </a:solidFill>
              </a:rPr>
              <a:t>Natural language → SAP actions via A2A + LangGraph + AI Core on SAP BTP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9919A"/>
                </a:solidFill>
              </a:rPr>
              <a:t>CLOUD FOUNDRY · BTP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920240" cy="77724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Chat UI / Joule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276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Browser · Desktop · 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4447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0F2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188720"/>
            <a:ext cx="1920240" cy="777240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7480" y="1298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warehouse-agent-ui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6276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Node/Express · Static 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4447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0F2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188720"/>
            <a:ext cx="1920240" cy="77724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1298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warehouse-agent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6276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Python A2A · JSON-RPC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4447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0F2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1188720"/>
            <a:ext cx="1920240" cy="777240"/>
          </a:xfrm>
          <a:prstGeom prst="rect">
            <a:avLst/>
          </a:prstGeom>
          <a:solidFill>
            <a:srgbClr val="006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52360" y="1298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LangGraph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16276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Agentic Loop · Tool Dispatch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4447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0F2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29800" y="1188720"/>
            <a:ext cx="1920240" cy="777240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29800" y="1298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SAP AI 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16276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GPT-4.1 · 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057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A6D70"/>
                </a:solidFill>
              </a:rPr>
              <a:t>↓  48 domain tool calls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423160"/>
            <a:ext cx="2743200" cy="77724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25328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SAP EWM (OData V4)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862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WO · Tasks · Stock · GR · 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26791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E3E"/>
                </a:solidFill>
              </a:rPr>
              <a:t>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2423160"/>
            <a:ext cx="2743200" cy="777240"/>
          </a:xfrm>
          <a:prstGeom prst="rect">
            <a:avLst/>
          </a:prstGeom>
          <a:solidFill>
            <a:srgbClr val="C8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46120" y="25328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SAP MM (OData V2)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2862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Stock · GR · Deliveries · STO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26791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E3E"/>
                </a:solidFill>
              </a:rPr>
              <a:t>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2423160"/>
            <a:ext cx="2743200" cy="777240"/>
          </a:xfrm>
          <a:prstGeom prst="rect">
            <a:avLst/>
          </a:prstGeom>
          <a:solidFill>
            <a:srgbClr val="6E3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72200" y="25328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(BAPI/V2)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862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Orders · BOM · Confirmations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26791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E3E"/>
                </a:solidFill>
              </a:rPr>
              <a:t>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98280" y="2423160"/>
            <a:ext cx="2743200" cy="777240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8280" y="25328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BTP Connectivity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2862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Cloud Connector → D4H-200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337560"/>
            <a:ext cx="2834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3337560"/>
            <a:ext cx="2834640" cy="54864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34472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2363A"/>
                </a:solidFill>
              </a:rPr>
              <a:t>BTP Native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37764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D70"/>
                </a:solidFill>
              </a:rPr>
              <a:t>Destination + Connectivity Service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3337560"/>
            <a:ext cx="2834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91840" y="3337560"/>
            <a:ext cx="2834640" cy="54864"/>
          </a:xfrm>
          <a:prstGeom prst="rect">
            <a:avLst/>
          </a:prstGeom>
          <a:solidFill>
            <a:srgbClr val="006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91840" y="34472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2363A"/>
                </a:solidFill>
              </a:rPr>
              <a:t>A2A Protocol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37764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D70"/>
                </a:solidFill>
              </a:rPr>
              <a:t>Agent-to-Agent JSON-RPC 2.0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3337560"/>
            <a:ext cx="2834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63640" y="3337560"/>
            <a:ext cx="2834640" cy="54864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63640" y="34472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2363A"/>
                </a:solidFill>
              </a:rPr>
              <a:t>Human-in-Loop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7764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D70"/>
                </a:solidFill>
              </a:rPr>
              <a:t>Write ops require explicit approval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3337560"/>
            <a:ext cx="2834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235440" y="3337560"/>
            <a:ext cx="2834640" cy="54864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35440" y="34472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2363A"/>
                </a:solidFill>
              </a:rPr>
              <a:t>Multi-Tenant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37764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D70"/>
                </a:solidFill>
              </a:rPr>
              <a:t>One codebase, per-tenant config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19A"/>
                </a:solidFill>
              </a:rPr>
              <a:t>FGF Brands — D4H-200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19A"/>
                </a:solidFill>
              </a:rPr>
              <a:t>Warehouse AI Agent · SAP S/4HANA EWM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13 Conversational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CCDD"/>
                </a:solidFill>
              </a:rPr>
              <a:t>Intent detection + tool orchestration + human-in-loop approval for all write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9919A"/>
                </a:solidFill>
              </a:rPr>
              <a:t>JOULE STUDIO · REGISTERED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834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2834640" cy="457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" y="121615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0F2"/>
                </a:solidFill>
              </a:rPr>
              <a:t>01·Read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399032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MM Stock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1691640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D70"/>
                </a:solidFill>
              </a:rPr>
              <a:t>Plant/SLoc/batch stock via MM inventory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143000"/>
            <a:ext cx="2834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1143000"/>
            <a:ext cx="2834640" cy="457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121615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0F2"/>
                </a:solidFill>
              </a:rPr>
              <a:t>02·Read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1399032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EWM Stock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1691640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D70"/>
                </a:solidFill>
              </a:rPr>
              <a:t>Bin-level available + physical stock in WH PBAR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143000"/>
            <a:ext cx="2834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143000"/>
            <a:ext cx="2834640" cy="457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45352" y="121615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0F2"/>
                </a:solidFill>
              </a:rPr>
              <a:t>03·Read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1399032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Cross-Warehouse 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691640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D70"/>
                </a:solidFill>
              </a:rPr>
              <a:t>Physical stock across all 34 warehouses in one query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1143000"/>
            <a:ext cx="2834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98280" y="1143000"/>
            <a:ext cx="2834640" cy="457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71432" y="121615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0F2"/>
                </a:solidFill>
              </a:rPr>
              <a:t>04·Read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1399032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WO &amp;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1691640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D70"/>
                </a:solidFill>
              </a:rPr>
              <a:t>EWM WO/WT query, filter by status, material, bin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194560"/>
            <a:ext cx="2834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2194560"/>
            <a:ext cx="2834640" cy="4572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3192" y="226771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76500"/>
                </a:solidFill>
              </a:rPr>
              <a:t>05·Write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2450592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Task Confirmation 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" y="2743200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D70"/>
                </a:solidFill>
              </a:rPr>
              <a:t>Confirm EWM warehouse tasks with qty and destination bin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2194560"/>
            <a:ext cx="2834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46120" y="2194560"/>
            <a:ext cx="2834640" cy="457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19272" y="226771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0F2"/>
                </a:solidFill>
              </a:rPr>
              <a:t>06·Read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9272" y="2450592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Inbound Deliveries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9272" y="2743200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D70"/>
                </a:solidFill>
              </a:rPr>
              <a:t>Delivery headers, items, and document 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2194560"/>
            <a:ext cx="2834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72200" y="2194560"/>
            <a:ext cx="2834640" cy="457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5352" y="226771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0F2"/>
                </a:solidFill>
              </a:rPr>
              <a:t>07·Read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2" y="2450592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EWM Outbound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743200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D70"/>
                </a:solidFill>
              </a:rPr>
              <a:t>Outbound delivery orders from warehouse perspective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2194560"/>
            <a:ext cx="2834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098280" y="2194560"/>
            <a:ext cx="2834640" cy="457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71432" y="226771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0F2"/>
                </a:solidFill>
              </a:rPr>
              <a:t>08·Read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71432" y="2450592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Storage Bins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1432" y="2743200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D70"/>
                </a:solidFill>
              </a:rPr>
              <a:t>Bin master data, fixed assignments, empty bins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246120"/>
            <a:ext cx="2834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0040" y="3246120"/>
            <a:ext cx="2834640" cy="4572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93192" y="331927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76500"/>
                </a:solidFill>
              </a:rPr>
              <a:t>09·Write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2" y="3502152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Goods Movement &amp; GR 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2" y="3794760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D70"/>
                </a:solidFill>
              </a:rPr>
              <a:t>Material doc history + post goods receipt movement 101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46120" y="3246120"/>
            <a:ext cx="2834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246120" y="3246120"/>
            <a:ext cx="2834640" cy="457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319272" y="331927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0F2"/>
                </a:solidFill>
              </a:rPr>
              <a:t>10·Read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9272" y="3502152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EWM Phys. Inventory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9272" y="3794760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D70"/>
                </a:solidFill>
              </a:rPr>
              <a:t>PI documents and count items in warehouse PBAR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2200" y="3246120"/>
            <a:ext cx="2834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172200" y="3246120"/>
            <a:ext cx="2834640" cy="457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5352" y="331927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0F2"/>
                </a:solidFill>
              </a:rPr>
              <a:t>11·Read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502152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Production Orders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794760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D70"/>
                </a:solidFill>
              </a:rPr>
              <a:t>Order status, BOM components, routing operations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98280" y="3246120"/>
            <a:ext cx="2834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098280" y="3246120"/>
            <a:ext cx="2834640" cy="4572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171432" y="331927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76500"/>
                </a:solidFill>
              </a:rPr>
              <a:t>12·Write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71432" y="3502152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STO 3PL→FEN1 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71432" y="3794760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D70"/>
                </a:solidFill>
              </a:rPr>
              <a:t>One-shot STO ZIC3 → GI 351 → GR 101, no inbound delivery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297680"/>
            <a:ext cx="5760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20040" y="4297680"/>
            <a:ext cx="5760720" cy="4572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93192" y="4370832"/>
            <a:ext cx="5650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76500"/>
                </a:solidFill>
              </a:rPr>
              <a:t>13·Write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3192" y="4553712"/>
            <a:ext cx="5650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EWM Inbound GR ✋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3192" y="4846320"/>
            <a:ext cx="5650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D70"/>
                </a:solidFill>
              </a:rPr>
              <a:t>GR against EWM inbound delivery — full, partial, or HU-level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● 8 Read skills    ✋ 5 Write skills (require approval gate)    ✓ All 13 registered in Joule Studio (FGF tenant)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572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19A"/>
                </a:solidFill>
              </a:rPr>
              <a:t>FGF Brands — D4H-200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19A"/>
                </a:solidFill>
              </a:rPr>
              <a:t>Warehouse AI Agent · SAP S/4HANA EWM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48 SAP Tools — Deep API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CCDD"/>
                </a:solidFill>
              </a:rPr>
              <a:t>OData V2, OData V4, A2X, BAPI/SOAP — all major EWM and S/4HANA APIs represented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9919A"/>
                </a:solidFill>
              </a:rPr>
              <a:t>S/4HANA · EWM · MM · PP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749039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749039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216152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EWM Warehouse [V4]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27048"/>
            <a:ext cx="3611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2363A"/>
                </a:solidFill>
              </a:rPr>
              <a:t>get_warehouse_orders, get_warehouse_tasks, get_warehouse_task_detail
confirm_warehouse_task, confirm_warehouse_task_exact [WRITE]
get_storage_bins, get_fixed_bin_assignments
get_warehouses, get_storage_types, get_warehouse_resources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8807" y="1143000"/>
            <a:ext cx="3749039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78807" y="1143000"/>
            <a:ext cx="3749039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0247" y="1216152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EWM Stock [V4]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7" y="1527048"/>
            <a:ext cx="3611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2363A"/>
                </a:solidFill>
              </a:rPr>
              <a:t>get_ewm_available_stock
get_ewm_physical_stock
get_cross_warehouse_stock
get_phys_inventory_docs
get_phys_inventory_count_items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7574" y="1143000"/>
            <a:ext cx="3749039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37574" y="1143000"/>
            <a:ext cx="3749039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29014" y="1216152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EWM Inbound GR [A2X V4]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4" y="1527048"/>
            <a:ext cx="3611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2363A"/>
                </a:solidFill>
              </a:rPr>
              <a:t>list_ewm_inbound_deliveries
get_ewm_inbound_delivery
post_ewm_inbound_gr [WRITE]
get_ewm_outbound_deliveries
get_ewm_outbound_delivery_items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55848"/>
            <a:ext cx="3749039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3355848"/>
            <a:ext cx="3749039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3429000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MM Inventory [V2]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739896"/>
            <a:ext cx="3611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2363A"/>
                </a:solidFill>
              </a:rPr>
              <a:t>get_material_stock, get_stock_overview
get_inbound_deliveries, get_inbound_delivery_detail
get_delivery_items, get_delivery_doc_flow
get_material_documents
post_goods_receipt [WRITE]
search_batches, get_batch_classification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8807" y="3355848"/>
            <a:ext cx="3749039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78807" y="3355848"/>
            <a:ext cx="3749039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70247" y="3429000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STO Transfer [V2]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7" y="3739896"/>
            <a:ext cx="3611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2363A"/>
                </a:solidFill>
              </a:rPr>
              <a:t>create_sto [WRITE]
post_sto_goods_issue [WRITE]
post_sto_goods_receipt_no_del [WRITE]
execute_sto_transfer [WRITE]
get_purchase_orders, get_po_details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7574" y="3355848"/>
            <a:ext cx="3749039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37574" y="3355848"/>
            <a:ext cx="3749039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29014" y="3429000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Production [BAPI+V2]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9014" y="3739896"/>
            <a:ext cx="3611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2363A"/>
                </a:solidFill>
              </a:rPr>
              <a:t>get_production_order, get_production_order_components
get_production_order_operations, get_production_confirmations
get_production_orders_odata, get_production_order_status_odata
post_goods_issue_production [WRITE]
post_production_confirmation [WRITE]
post_goods_receipt_production [WRITE]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19A"/>
                </a:solidFill>
              </a:rPr>
              <a:t>FGF Brands — D4H-200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19A"/>
                </a:solidFill>
              </a:rPr>
              <a:t>Warehouse AI Agent · SAP S/4HANA EWM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From SAP Transactions to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CCDD"/>
                </a:solidFill>
              </a:rPr>
              <a:t>The agent replaces manual navigation with intelligent, action-ready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9919A"/>
                </a:solidFill>
              </a:rPr>
              <a:t>BUSINESS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6D70"/>
                </a:solidFill>
              </a:rPr>
              <a:t>BEFORE — SAP 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How much stock for 1010005 in bin H13A2?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928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A6D70"/>
                </a:solidFill>
              </a:rPr>
              <a:t>→ Open LX03, navigate warehouse/bin, read screen manually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Which inbound deliveries expected today?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072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A6D70"/>
                </a:solidFill>
              </a:rPr>
              <a:t>→ Run VL06I, filter by warehouse, export to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Confirm WT 1000045 to GR-DOCK with 50 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21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A6D70"/>
                </a:solidFill>
              </a:rPr>
              <a:t>→ Navigate LT12, enter task + qty + bin, confirm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Post GR for inbound delivery 180000234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360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A6D70"/>
                </a:solidFill>
              </a:rPr>
              <a:t>→ Open MIGO, GR for inbound delivery, fill items, 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57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63A"/>
                </a:solidFill>
              </a:rPr>
              <a:t>Status of PO 1001176 — any shortages?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504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A6D70"/>
                </a:solidFill>
              </a:rPr>
              <a:t>→ CO03, multiple tabs, manual availability 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097280"/>
            <a:ext cx="5577840" cy="5303520"/>
          </a:xfrm>
          <a:prstGeom prst="rect">
            <a:avLst/>
          </a:prstGeom>
          <a:solidFill>
            <a:srgbClr val="004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AFTER — Warehouse AI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00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How much stock for 1010005 in bin H13A2?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8928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BDDFF"/>
                </a:solidFill>
              </a:rPr>
              <a:t>"Bin H13A2: 120 EA available, 120 EA physical. Storage type 3000."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514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Which inbound deliveries expected today?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8072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BDDFF"/>
                </a:solidFill>
              </a:rPr>
              <a:t>"3 open deliveries for PBAR: 1800234 (10:00), 1800236 (14:30)…"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29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Confirm WT 1000045 to GR-DOCK with 50 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21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BDDFF"/>
                </a:solidFill>
              </a:rPr>
              <a:t>[Approval prompt] → User approves → "Task confirmed. 50 EA → GR-DOCK."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343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Post GR for delivery 180000234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6360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BDDFF"/>
                </a:solidFill>
              </a:rPr>
              <a:t>[Shows items, asks confirm] → "GR posted. Mat.doc 5000012345 created."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257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 of PO 1001176 — any shortages?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5504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BDDFF"/>
                </a:solidFill>
              </a:rPr>
              <a:t>"Released. Qty 500. Shortages: 1010017 (-20 EA), 1010019 (-10 EA)…"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19A"/>
                </a:solidFill>
              </a:rPr>
              <a:t>FGF Brands — D4H-200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19A"/>
                </a:solidFill>
              </a:rPr>
              <a:t>Warehouse AI Agent · SAP S/4HANA EWM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Business Value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CCDD"/>
                </a:solidFill>
              </a:rPr>
              <a:t>Measurable impact across warehouse operations, speed, and platform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9919A"/>
                </a:solidFill>
              </a:rPr>
              <a:t>ROI ·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834640" cy="1280160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7EC8E3"/>
                </a:solidFill>
              </a:rP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11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ABBCC"/>
                </a:solidFill>
              </a:rPr>
              <a:t>SAP APIs Unified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143000"/>
            <a:ext cx="2834640" cy="1280160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3716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7EC8E3"/>
                </a:solidFill>
              </a:rPr>
              <a:t>&lt;30s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011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ABBCC"/>
                </a:solidFill>
              </a:rPr>
              <a:t>vs. 5+ min manual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2834640" cy="1280160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3716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7EC8E3"/>
                </a:solidFill>
              </a:rPr>
              <a:t>Zero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ABBCC"/>
                </a:solidFill>
              </a:rPr>
              <a:t>SAP GUI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143000"/>
            <a:ext cx="2834640" cy="1280160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13716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7EC8E3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011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ABBCC"/>
                </a:solidFill>
              </a:rPr>
              <a:t>Tenants Live Today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06040"/>
            <a:ext cx="557784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606040"/>
            <a:ext cx="5577840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697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2D3E"/>
                </a:solidFill>
              </a:rPr>
              <a:t>Operational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63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63A"/>
                </a:solidFill>
              </a:rPr>
              <a:t>✓  Stock lookups: seconds vs. minutes of transaction navigation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66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63A"/>
                </a:solidFill>
              </a:rPr>
              <a:t>✓  Inbound GR: conversational posting replaces MIGO forms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69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63A"/>
                </a:solidFill>
              </a:rPr>
              <a:t>✓  STO one-shot: create + GI 351 + GR 101 in a single command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63A"/>
                </a:solidFill>
              </a:rPr>
              <a:t>✓  Cross-warehouse: 34 warehouses answered in one 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63A"/>
                </a:solidFill>
              </a:rPr>
              <a:t>✓  Task confirmation: guided workflow with quantity validation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606040"/>
            <a:ext cx="557784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2606040"/>
            <a:ext cx="5577840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2697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2D3E"/>
                </a:solidFill>
              </a:rPr>
              <a:t>Platform &amp; Integration Benefits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063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63A"/>
                </a:solidFill>
              </a:rPr>
              <a:t>✓  100% native on SAP BTP — no third-party infrastructure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566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63A"/>
                </a:solidFill>
              </a:rPr>
              <a:t>✓  Joule Studio: 13 skills as built-in Joule intents (FGF)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069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63A"/>
                </a:solidFill>
              </a:rPr>
              <a:t>✓  MCP proxy: connects Claude Code, Cursor, Joule Desktop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572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63A"/>
                </a:solidFill>
              </a:rPr>
              <a:t>✓  A2A standard: future-ready for multi-agent orchestration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074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63A"/>
                </a:solidFill>
              </a:rPr>
              <a:t>✓  Responsible AI: human approval gates on all write operations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19A"/>
                </a:solidFill>
              </a:rPr>
              <a:t>FGF Brands — D4H-200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19A"/>
                </a:solidFill>
              </a:rPr>
              <a:t>Warehouse AI Agent · SAP S/4HANA EWM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Four Ways to Access the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CCDD"/>
                </a:solidFill>
              </a:rPr>
              <a:t>Browser, desktop widget, developer MCP proxy, and embedded Joule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9919A"/>
                </a:solidFill>
              </a:rPr>
              <a:t>UX · ACCESSIBILITY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577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577840" cy="54864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2527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363A"/>
                </a:solidFill>
              </a:rPr>
              <a:t>Web Chat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618488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SAP Fiori-styled browser interface with collapsible Skills + Quick Actions sidebar. Markdown rendering, confirmation prompts for write operations, session history, and a full 'All Skills &amp; Prompts' catalog with 13 skill tiles.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0F2"/>
                </a:solidFill>
              </a:rPr>
              <a:t>warehouse-agent-ui.cfapps.us10-001.hana.ondemand.com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5577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143000"/>
            <a:ext cx="5577840" cy="54864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81928" y="12527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363A"/>
                </a:solidFill>
              </a:rPr>
              <a:t>Floating Desktop Widget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618488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Transparent tkinter overlay for Windows — stays visible while SAP GUI is open. Ctrl+Alt+W shows/hides from anywhere. Ctrl+Alt+J opens popup and switches destination to D4H-200. Auto-launches at Windows login.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32644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76500"/>
                </a:solidFill>
              </a:rPr>
              <a:t>floating_icon.pyw · pythonw.exe · shell:startup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49040"/>
            <a:ext cx="5577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3749040"/>
            <a:ext cx="5577840" cy="54864"/>
          </a:xfrm>
          <a:prstGeom prst="rect">
            <a:avLst/>
          </a:prstGeom>
          <a:solidFill>
            <a:srgbClr val="006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9768" y="38587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363A"/>
                </a:solidFill>
              </a:rPr>
              <a:t>MCP Proxy (Claude Code / Joule Desktop)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4224528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FastAPI server on localhost:8766 exposing ask_warehouse_agent as a single MCP tool over Streamable HTTP (MCP 2025-03-26). Register in Joule Desktop, Claude Code (.mcp.json), or Cursor without browser auth.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870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627F"/>
                </a:solidFill>
              </a:rPr>
              <a:t>http://localhost:8766/mcp · mcp_proxy/warehouse_mcp.py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749040"/>
            <a:ext cx="5577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3749040"/>
            <a:ext cx="5577840" cy="54864"/>
          </a:xfrm>
          <a:prstGeom prst="rect">
            <a:avLst/>
          </a:prstGeom>
          <a:solidFill>
            <a:srgbClr val="6E3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81928" y="38587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363A"/>
                </a:solidFill>
              </a:rPr>
              <a:t>SAP Joule Studio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4224528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All 13 skills registered as triggerable Joule intents on the FGF BTP tenant. Intent matching uses skill descriptions + sample utterances from SKILL.md files loaded at agent startup.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5870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33B0"/>
                </a:solidFill>
              </a:rPr>
              <a:t>FGF tenant only · load_skill_resources.py · skills/*/SKILL.md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19A"/>
                </a:solidFill>
              </a:rPr>
              <a:t>FGF Brands — D4H-200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19A"/>
                </a:solidFill>
              </a:rPr>
              <a:t>Warehouse AI Agent · SAP S/4HANA EWM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Multi-Tenant — One Codebase, Any S/4HANA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CCDD"/>
                </a:solidFill>
              </a:rPr>
              <a:t>Per-tenant destination and AI Core config — deploy to a new backend in hours, not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9919A"/>
                </a:solidFill>
              </a:rPr>
              <a:t>BTP · SCALABLE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40312" cy="347472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2070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12070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SAP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0992" y="12070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WH / Plant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592" y="1207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BTP Subaccount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8592" y="120700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Joule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88752" y="120700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490472"/>
            <a:ext cx="11640312" cy="347472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" y="1554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★ FGF Brands — D4H-200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1554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0F2"/>
                </a:solidFill>
              </a:rPr>
              <a:t>D4H-200 via SBPA_d4hclnt200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1554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0F2"/>
                </a:solidFill>
              </a:rPr>
              <a:t>PBAR/BAR1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15544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0F2"/>
                </a:solidFill>
              </a:rPr>
              <a:t>FGFDev (us10-001)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1554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0F2"/>
                </a:solidFill>
              </a:rPr>
              <a:t>✓ Subscribed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88752" y="1554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0F2"/>
                </a:solidFill>
              </a:rPr>
              <a:t>● Primary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837944"/>
            <a:ext cx="11640312" cy="347472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19019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2363A"/>
                </a:solidFill>
              </a:rPr>
              <a:t>COE — COENAMFLIVE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2112" y="19019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63A"/>
                </a:solidFill>
              </a:rPr>
              <a:t>S4X-100 via UXM Cloud Connector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992" y="19019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63A"/>
                </a:solidFill>
              </a:rPr>
              <a:t>1710/1710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190195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63A"/>
                </a:solidFill>
              </a:rPr>
              <a:t>max-na-industry-us10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9019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63A"/>
                </a:solidFill>
              </a:rPr>
              <a:t>Standalone A2A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88752" y="19019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7E3E"/>
                </a:solidFill>
              </a:rPr>
              <a:t>● 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185416"/>
            <a:ext cx="116403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" y="22494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2363A"/>
                </a:solidFill>
              </a:rPr>
              <a:t>SM Trial (sm1801)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2112" y="22494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63A"/>
                </a:solidFill>
              </a:rPr>
              <a:t>D4H-200 (same as FGF)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50992" y="224942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63A"/>
                </a:solidFill>
              </a:rPr>
              <a:t>PBAR/BAR1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224942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63A"/>
                </a:solidFill>
              </a:rPr>
              <a:t>sm1801 (us10-001)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22494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63A"/>
                </a:solidFill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88752" y="22494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7E3E"/>
                </a:solidFill>
              </a:rPr>
              <a:t>● Live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532888"/>
            <a:ext cx="11640312" cy="347472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25968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2363A"/>
                </a:solidFill>
              </a:rPr>
              <a:t>Hackathon (original)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82112" y="25968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63A"/>
                </a:solidFill>
              </a:rPr>
              <a:t>S4X-100 via gclp0353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0992" y="259689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63A"/>
                </a:solidFill>
              </a:rPr>
              <a:t>1710/1710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259689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63A"/>
                </a:solidFill>
              </a:rPr>
              <a:t>gdh-prj-vector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08592" y="259689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63A"/>
                </a:solidFill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259689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63A"/>
                </a:solidFill>
              </a:rPr>
              <a:t>Historical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520440"/>
            <a:ext cx="3749039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3520440"/>
            <a:ext cx="3749039" cy="36576"/>
          </a:xfrm>
          <a:prstGeom prst="rect">
            <a:avLst/>
          </a:prstGeom>
          <a:solidFill>
            <a:srgbClr val="004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9768" y="361188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363A"/>
                </a:solidFill>
              </a:rPr>
              <a:t>What's Shared (One Codebase)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" y="3995928"/>
            <a:ext cx="35661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63A"/>
                </a:solidFill>
              </a:rPr>
              <a:t>✓ All 48 tools and 13 skills
✓ A2A server + LangGraph logic
✓ System prompts + intent matching
✓ Approval gate framework
✓ Web UI + MCP proxy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0" y="3520440"/>
            <a:ext cx="3749039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251960" y="3520440"/>
            <a:ext cx="3749039" cy="36576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61688" y="361188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363A"/>
                </a:solidFill>
              </a:rPr>
              <a:t>What's Per-Tenant (Config Only)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61688" y="3995928"/>
            <a:ext cx="35661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63A"/>
                </a:solidFill>
              </a:rPr>
              <a:t>✓ Destination name (env var)
✓ AI Core deployment ID + model
✓ BTP services bound in manifest
✓ CF manifest file (manifest-*.yml)
✓ Cloud Connector location ID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3880" y="3520440"/>
            <a:ext cx="3749039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183880" y="3520440"/>
            <a:ext cx="3749039" cy="36576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93608" y="361188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363A"/>
                </a:solidFill>
              </a:rPr>
              <a:t>Add a New Tenant (3 Steps)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93608" y="3995928"/>
            <a:ext cx="35661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63A"/>
                </a:solidFill>
              </a:rPr>
              <a:t>1. Create BTP destination to backend
2. Set env vars in new manifest
3. cf push -f manifest-new.yml
✓ First agent live: same day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72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19A"/>
                </a:solidFill>
              </a:rPr>
              <a:t>FGF Brands — D4H-200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19A"/>
                </a:solidFill>
              </a:rPr>
              <a:t>Warehouse AI Agent · SAP S/4HANA EWM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What's Live &amp;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CCDD"/>
                </a:solidFill>
              </a:rPr>
              <a:t>Extensible framework — new skills and tools without architectural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9919A"/>
                </a:solidFill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363A"/>
                </a:solidFill>
              </a:rPr>
              <a:t>✓ Delivered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486400" cy="36576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363A"/>
                </a:solidFill>
              </a:rPr>
              <a:t>→ Potential Next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486400" cy="36576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508760"/>
            <a:ext cx="822960" cy="256032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54533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508760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363A"/>
                </a:solidFill>
              </a:rPr>
              <a:t>13 Skills + 48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783080"/>
            <a:ext cx="4434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Full EWM stock, orders, tasks, GR, PI, outbound. MM deliveries, GR, STO. Production order read + write execution. All live on FGF.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97480"/>
            <a:ext cx="822960" cy="256032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7340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97480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363A"/>
                </a:solidFill>
              </a:rPr>
              <a:t>Joule Studio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971800"/>
            <a:ext cx="4434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All 13 skills as triggerable intents on FGF tenant. Natural language intent matching via skill descriptions + sample utterances.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86200"/>
            <a:ext cx="822960" cy="256032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9227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886200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363A"/>
                </a:solidFill>
              </a:rPr>
              <a:t>MCP Proxy for Developer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160520"/>
            <a:ext cx="4434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Claude Code, Cursor, and SAP Joule Desktop connect via local MCP server on localhost:8766 — no browser auth required.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074920"/>
            <a:ext cx="822960" cy="256032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51114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74920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363A"/>
                </a:solidFill>
              </a:rPr>
              <a:t>4 Tenant Deployments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49240"/>
            <a:ext cx="4434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FGF primary, COE, Trial, and Hackathon — all serving different S/4HANA backends from one codebase, same-day deploy.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508760"/>
            <a:ext cx="1005840" cy="256032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154533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Near-term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150876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363A"/>
                </a:solidFill>
              </a:rPr>
              <a:t>EWM Putaway &amp; Replenishment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178308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Trigger putaway orders and replenishment tasks conversationally. Extend task confirmation skill with putaway control.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697480"/>
            <a:ext cx="1005840" cy="256032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2734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Near-term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269748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363A"/>
                </a:solidFill>
              </a:rPr>
              <a:t>TM Delivery Scheduling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297180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SAP TM carrier visibility and delivery scheduling queries via A2X TM OData APIs — close the logistics loop.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886200"/>
            <a:ext cx="1005840" cy="256032"/>
          </a:xfrm>
          <a:prstGeom prst="rect">
            <a:avLst/>
          </a:prstGeom>
          <a:solidFill>
            <a:srgbClr val="6A6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392277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Strategic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388620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363A"/>
                </a:solidFill>
              </a:rPr>
              <a:t>Proactive Alerting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416052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Monitor inventory thresholds, overdue tasks, and delivery exceptions. Shift from reactive to proactive operations.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074920"/>
            <a:ext cx="1005840" cy="256032"/>
          </a:xfrm>
          <a:prstGeom prst="rect">
            <a:avLst/>
          </a:prstGeom>
          <a:solidFill>
            <a:srgbClr val="6A6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46520" y="511149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Strategic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507492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363A"/>
                </a:solidFill>
              </a:rPr>
              <a:t>Multi-Agent Orchestration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0" y="534924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Warehouse agent as specialist in a broader supply chain agent network — coordinating with demand, procurement, logistics agents via A2A.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19A"/>
                </a:solidFill>
              </a:rPr>
              <a:t>FGF Brands — D4H-200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19A"/>
                </a:solidFill>
              </a:rPr>
              <a:t>Warehouse AI Agent · SAP S/4HANA EWM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2247</Words>
  <Application>Microsoft Office PowerPoint</Application>
  <PresentationFormat>Custom</PresentationFormat>
  <Paragraphs>275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Reddy, Sudhakar</cp:lastModifiedBy>
  <cp:revision>1</cp:revision>
  <dcterms:created xsi:type="dcterms:W3CDTF">2013-01-27T09:14:16Z</dcterms:created>
  <dcterms:modified xsi:type="dcterms:W3CDTF">2026-09-24T14:02:32Z</dcterms:modified>
  <cp:category/>
</cp:coreProperties>
</file>