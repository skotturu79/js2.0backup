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15968"/>
            <a:ext cx="12188952" cy="10972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800">
                <a:solidFill>
                  <a:srgbClr val="FFFFFF"/>
                </a:solidFill>
              </a:rPr>
              <a:t>SAP EWM Warehouse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000">
                <a:solidFill>
                  <a:srgbClr val="CCE4FF"/>
                </a:solidFill>
              </a:rPr>
              <a:t>Benchmark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AAD4FF"/>
                </a:solidFill>
              </a:rPr>
              <a:t>vs. SAP Joule · Microsoft Copilot SCM · Blue Yonder · Manhattan Associates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FGF Brands / D4H-200  ·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47 Tools  ·  13 Skills  ·  18 SAP API Surfaces  ·  LangGraph + GPT-4.1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Agent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D4H-200 / FGF Brands — Production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737360" cy="141732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1508760"/>
            <a:ext cx="1737360" cy="1417320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618488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23317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FFFFFF"/>
                </a:solidFill>
              </a:rPr>
              <a:t>Domain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508760"/>
            <a:ext cx="1737360" cy="14173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618488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3317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FFFFFF"/>
                </a:solidFill>
              </a:rPr>
              <a:t>SAP API Surfaces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508760"/>
            <a:ext cx="1737360" cy="141732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1618488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3317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FFFFFF"/>
                </a:solidFill>
              </a:rPr>
              <a:t>Write Skills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508760"/>
            <a:ext cx="1737360" cy="1417320"/>
          </a:xfrm>
          <a:prstGeom prst="rect">
            <a:avLst/>
          </a:prstGeom>
          <a:solidFill>
            <a:srgbClr val="6E0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1618488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3317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FFFFFF"/>
                </a:solidFill>
              </a:rPr>
              <a:t>Custom ABAP FMs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508760"/>
            <a:ext cx="1737360" cy="1417320"/>
          </a:xfrm>
          <a:prstGeom prst="rect">
            <a:avLst/>
          </a:prstGeom>
          <a:solidFill>
            <a:srgbClr val="C05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1618488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3317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FFFFFF"/>
                </a:solidFill>
              </a:rPr>
              <a:t>CF Tenants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606060"/>
                </a:solidFill>
              </a:rPr>
              <a:t>Backend: Python / LangGraph / A2A JSON-RPC 2.0 · LLM: GPT-4.1 via SAP AI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606060"/>
                </a:solidFill>
              </a:rPr>
              <a:t>Connectivity: BTP Connectivity Proxy → Cloud Connector → SAP S/4HANA EWM D4H-200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606060"/>
                </a:solidFill>
              </a:rPr>
              <a:t>Frontend: Static HTML Chat UI (CF) + Python tkinter Desktop Widget + SAP Joule Studio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Skills Inventory — 13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Read · Write · EWM · Production · 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417320"/>
            <a:ext cx="9409176" cy="29260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45389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538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4538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145389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API /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14538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Write?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719072"/>
            <a:ext cx="9409176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1764792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76479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MM Stock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1764792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1764792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API_MATERIAL_STOCK_SRV (OData V2)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764792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2020824"/>
            <a:ext cx="9409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2066543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66543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Stock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2066543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2066543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Stock A2X (OData V4)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2066543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2322576"/>
            <a:ext cx="9409176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368296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36829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Cross-Warehouse 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2368296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3984" y="2368296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Stock A2X — all 34 WH (OData V4)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2368296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2624328"/>
            <a:ext cx="9409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2670048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67004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Warehouse Orders &amp; 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1296" y="2670048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3984" y="2670048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WO A2X (OData V4)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2" y="2670048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2926080"/>
            <a:ext cx="9409176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2971800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297180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Warehouse Task Confirmation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2971800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006DD7"/>
                </a:solidFill>
              </a:rPr>
              <a:t>Write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3984" y="2971800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Task Confirm A2X Action (OData V4)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1392" y="2971800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" y="3227832"/>
            <a:ext cx="9409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3273552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27355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Inbound Deliveries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1296" y="3273552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3984" y="3273552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API_INBOUND_DELIVERY_SRV (OData V2)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1392" y="3273552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" y="3529584"/>
            <a:ext cx="9409176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3575303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575303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Outbound Deliveries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11296" y="3575303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43984" y="3575303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Outbound A2X (OData V4)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1392" y="3575303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3831335"/>
            <a:ext cx="9409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3877055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877055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Storage Bins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1296" y="3877055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4" y="3877055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Storage Bin A2X (OData V4)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1392" y="3877055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" y="4133087"/>
            <a:ext cx="9409176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4178807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178807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Goods Movement &amp; GR Posting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1296" y="4178807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006DD7"/>
                </a:solidFill>
              </a:rPr>
              <a:t>Write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3984" y="4178807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API_GOODSMVT_SRV (OData V2)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51392" y="4178807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" y="4434840"/>
            <a:ext cx="9409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4480559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4480559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Physical Inventory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11296" y="4480559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43984" y="4480559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PI A2X (OData V4)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51392" y="4480559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" y="4736592"/>
            <a:ext cx="9409176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8600" y="4782312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478231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Production Orders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11296" y="4782312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Read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43984" y="4782312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API_PRODUCTION_ORDER_2_SRV V2 + BAPI SOAP-RFC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51392" y="4782312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201168" y="5038344"/>
            <a:ext cx="9409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600" y="5084064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508406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STO Transfer 3PL→FEN1 (one-shot)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11296" y="508406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006DD7"/>
                </a:solidFill>
              </a:rPr>
              <a:t>Write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43984" y="5084064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OData V2 + SOAP-RFC Z_GOODSMVT_POST4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51392" y="5084064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1168" y="5340096"/>
            <a:ext cx="9409176" cy="29260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8600" y="5385816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538581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Inbound Delivery GR (HU/Full)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11296" y="5385816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006DD7"/>
                </a:solidFill>
              </a:rPr>
              <a:t>Write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43984" y="5385816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API_WHSE_INB_DELIVERY_2 V4 + Z_EWM_GR_HU_POST3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51392" y="5385816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API Coverage — 18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OData V2 · OData V4 (A2X) · SOAP-RFC · Custom ABAP FM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840480" cy="34747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3560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OData V2 (5 standard APIs)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92224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792224"/>
            <a:ext cx="54864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83794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API_MATERIAL_STOCK_SRV — MM stock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21991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21991"/>
            <a:ext cx="54864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2677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API_INBOUND_DELIVERY_SRV — LE inbound delivery read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51760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651760"/>
            <a:ext cx="54864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API_GOODSMVT_SRV — material documents + GR 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81528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081528"/>
            <a:ext cx="54864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127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API_PURCHASEORDER_PROCESS_SRV — STOs / POs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11296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511296"/>
            <a:ext cx="54864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5570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API_PRODUCTION_ORDER_2_SRV + API_PP_ORDER_CONFIRMATION_SRV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1417320"/>
            <a:ext cx="3840480" cy="347472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143560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OData V4 / A2X (8 standard APIs)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1792224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1792224"/>
            <a:ext cx="54864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183794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EWM Warehouse Order + Task (A2X) — query + confirmation 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2221991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2221991"/>
            <a:ext cx="54864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22677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EWM Stock (A2X) — bin-level, all 34 warehouses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651760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2651760"/>
            <a:ext cx="54864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EWM Outbound Delivery (A2X)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081528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3081528"/>
            <a:ext cx="54864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3127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EWM Storage Bin Master (A2X)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3511296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3511296"/>
            <a:ext cx="54864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1688" y="35570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EWM Physical Inventory (A2X)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3941063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60" y="3941063"/>
            <a:ext cx="54864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61688" y="398678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API_WHSE_INB_DELIVERY_2 — EWM inbound GR (Full/Partial)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4370831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60" y="4370831"/>
            <a:ext cx="54864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1688" y="44165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EWM Warehouse Master + Resources (A2X)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417320"/>
            <a:ext cx="3840480" cy="34747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143560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SOAP-RFC / Custom ABAP (3)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1792224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1792224"/>
            <a:ext cx="54864" cy="3840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7" y="183794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BAPI_PRODORD_GET_DETAIL — production order BAPI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2221991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2221991"/>
            <a:ext cx="54864" cy="3840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9327" y="22677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Z_GOODSMVT_POST4 — custom GI/GR posting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2651760"/>
            <a:ext cx="3840480" cy="3840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2651760"/>
            <a:ext cx="54864" cy="3840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7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Z_EWM_GR_HU_POST3 ★  — HU-level selective GR (new)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1264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F0AB00"/>
                </a:solidFill>
              </a:rPr>
              <a:t>★ Z_EWM_GR_HU_POST3: custom RFC FM built this session — fills a gap the standard SAP A2X API does not cover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Competitive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Capability Comparison vs. Market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417320"/>
            <a:ext cx="10003536" cy="3200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1463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4630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This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4630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SAP Joule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14630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MS Copilot SCM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14630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FFFFFF"/>
                </a:solidFill>
              </a:rPr>
              <a:t>Blue Yonder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737360"/>
            <a:ext cx="10003536" cy="3337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792224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EWM operation breadth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1792224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792224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★★★☆☆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1792224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★★☆☆☆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792224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★★★☆☆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2071115"/>
            <a:ext cx="10003536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" y="2125979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Write ops (EWM-native)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2125979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★★★★★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2125979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★★☆☆☆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2125979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★★☆☆☆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125979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★☆☆☆☆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2404872"/>
            <a:ext cx="10003536" cy="3337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" y="2459736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API depth / custom gap-fill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9584" y="2459736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★★★★★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2459736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★★★★☆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2459736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★★☆☆☆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2459736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★★☆☆☆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2738628"/>
            <a:ext cx="10003536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" y="2793492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LLM reasoning (multi-step)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2793492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006DD7"/>
                </a:solidFill>
              </a:rPr>
              <a:t>★★★★☆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2793492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★★★☆☆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2793492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★★★☆☆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2793492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★☆☆☆☆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3072384"/>
            <a:ext cx="10003536" cy="3337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3127248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Write-op safety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9584" y="3127248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★★★★★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4064" y="3127248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★★★★☆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38544" y="3127248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★★★☆☆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3127248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★★☆☆☆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" y="3406139"/>
            <a:ext cx="10003536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" y="3461003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HU-level selective GR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9584" y="3461003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 custom FM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84064" y="3461003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8544" y="3461003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4" y="3461003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⚠️ limited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" y="3739896"/>
            <a:ext cx="10003536" cy="3337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7744" y="3794759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STO one-shot (create+GI+GR)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9584" y="3794759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84064" y="3794759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38544" y="3794759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⚠️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5904" y="3794759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4073652"/>
            <a:ext cx="10003536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7744" y="4128515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Task confirmation (chat)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9584" y="4128515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84064" y="4128515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8544" y="4128515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5904" y="4128515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" y="4407408"/>
            <a:ext cx="10003536" cy="3337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" y="4462272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Dry-run / test mode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9584" y="4462272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188F30"/>
                </a:solidFill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84064" y="4462272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4462272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75904" y="4462272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BB0000"/>
                </a:solidFill>
              </a:rPr>
              <a:t>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" y="4741164"/>
            <a:ext cx="10003536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7744" y="4796028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UI/UX polish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29584" y="4796028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006DD7"/>
                </a:solidFill>
              </a:rPr>
              <a:t>★★☆☆☆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84064" y="4796028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★★★★★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38544" y="4796028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★★★★★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75904" y="4796028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★★★☆☆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" y="5074920"/>
            <a:ext cx="10003536" cy="33375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7744" y="5129783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Auth / SSO on UI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29584" y="5129783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BB0000"/>
                </a:solidFill>
              </a:rPr>
              <a:t>❌ 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84064" y="5129783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188F30"/>
                </a:solidFill>
              </a:rPr>
              <a:t>✅ SSO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38544" y="5129783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188F30"/>
                </a:solidFill>
              </a:rPr>
              <a:t>✅ Entra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75904" y="5129783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188F30"/>
                </a:solidFill>
              </a:rPr>
              <a:t>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1168" y="5408675"/>
            <a:ext cx="10003536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37744" y="5463539"/>
            <a:ext cx="32918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Ops maturity / observability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29584" y="5463539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50">
                <a:solidFill>
                  <a:srgbClr val="006DD7"/>
                </a:solidFill>
              </a:rPr>
              <a:t>★★☆☆☆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84064" y="5463539"/>
            <a:ext cx="15544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★★★★★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38544" y="5463539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★★★★★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75904" y="5463539"/>
            <a:ext cx="173736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>
                <a:solidFill>
                  <a:srgbClr val="222222"/>
                </a:solidFill>
              </a:rPr>
              <a:t>★★★★☆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Overall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Out of 5 per dimension — 4 vendors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743200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8132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417320"/>
            <a:ext cx="2148840" cy="34747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48132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This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9" y="1417320"/>
            <a:ext cx="2148840" cy="347472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19" y="148132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SAP Joule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417320"/>
            <a:ext cx="2148840" cy="34747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48132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MS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417320"/>
            <a:ext cx="2148840" cy="34747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48132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Blue Yonder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64792"/>
            <a:ext cx="27432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8745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EWM Operation Breadth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76479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187452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9" y="176479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19" y="1874520"/>
            <a:ext cx="1042415" cy="24688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76479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1874520"/>
            <a:ext cx="694944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76479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874520"/>
            <a:ext cx="1042415" cy="246888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0776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267712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3774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Write-Op Capability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226771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08960" y="237744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23591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79" y="226771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03519" y="2377440"/>
            <a:ext cx="694944" cy="24688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44183" y="23591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226771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79" y="2377440"/>
            <a:ext cx="694944" cy="24688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23591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226771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92640" y="2377440"/>
            <a:ext cx="347472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85832" y="23591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770632"/>
            <a:ext cx="27432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API Depth / Gap-Fill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277063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08960" y="288036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92040" y="2862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79" y="277063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03519" y="2880360"/>
            <a:ext cx="1389888" cy="24688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39127" y="2862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277063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98079" y="2880360"/>
            <a:ext cx="694944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38744" y="2862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0" y="277063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2880360"/>
            <a:ext cx="694944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33304" y="2862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273552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33832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LLM Reasoning Quality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327355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08960" y="3383280"/>
            <a:ext cx="1389888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44568" y="3364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79" y="327355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03519" y="3383280"/>
            <a:ext cx="1042415" cy="24688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91655" y="3364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06640" y="327355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98079" y="3383280"/>
            <a:ext cx="1042415" cy="24688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86216" y="3364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01200" y="327355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92640" y="3383280"/>
            <a:ext cx="347472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85832" y="3364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776472"/>
            <a:ext cx="27432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3886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Write-Op Safety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377647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08960" y="388620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92040" y="3867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12079" y="377647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303519" y="3886200"/>
            <a:ext cx="1389888" cy="24688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39127" y="3867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06640" y="377647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98079" y="3886200"/>
            <a:ext cx="1042415" cy="24688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86216" y="3867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01200" y="377647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92640" y="3886200"/>
            <a:ext cx="694944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33304" y="3867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279392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3891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UI / UX Polish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17520" y="427939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108960" y="4389120"/>
            <a:ext cx="694944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49624" y="437083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79" y="427939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303519" y="438912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86599" y="437083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06640" y="427939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498079" y="438912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81160" y="437083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01200" y="427939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692640" y="4389120"/>
            <a:ext cx="1042415" cy="246888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780776" y="437083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782312"/>
            <a:ext cx="27432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4892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Security / Auth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17520" y="478231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108960" y="4892040"/>
            <a:ext cx="694944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49624" y="4873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212079" y="478231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303519" y="489204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86599" y="4873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06640" y="478231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498079" y="489204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81160" y="4873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01200" y="4782312"/>
            <a:ext cx="2148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92640" y="4892040"/>
            <a:ext cx="1389888" cy="246888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128248" y="4873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5285232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53949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Ops Maturity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017520" y="528523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108960" y="5394960"/>
            <a:ext cx="694944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849624" y="5376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212079" y="528523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303519" y="539496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86599" y="5376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406640" y="528523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498079" y="5394960"/>
            <a:ext cx="1737360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281160" y="5376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601200" y="5285232"/>
            <a:ext cx="2148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692640" y="5394960"/>
            <a:ext cx="1389888" cy="246888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128248" y="5376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" y="5788152"/>
            <a:ext cx="274320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5897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222222"/>
                </a:solidFill>
              </a:rPr>
              <a:t>TOTAL / 40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017520" y="5788152"/>
            <a:ext cx="214884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108960" y="5897880"/>
            <a:ext cx="1303019" cy="24688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57699" y="5879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22222"/>
                </a:solidFill>
              </a:rPr>
              <a:t>30/40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212079" y="5788152"/>
            <a:ext cx="214884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303519" y="5897880"/>
            <a:ext cx="1346454" cy="24688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95693" y="5879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22222"/>
                </a:solidFill>
              </a:rPr>
              <a:t>31/40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406640" y="5788152"/>
            <a:ext cx="214884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498079" y="5897880"/>
            <a:ext cx="1172718" cy="24688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716518" y="5879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22222"/>
                </a:solidFill>
              </a:rPr>
              <a:t>27/40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601200" y="5788152"/>
            <a:ext cx="214884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692640" y="5897880"/>
            <a:ext cx="868680" cy="2468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607040" y="5879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22222"/>
                </a:solidFill>
              </a:rPr>
              <a:t>20/40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Where This Agent Leads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Capabilities with no commercial peer in the SAP EWM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352044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3520440" cy="34747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52704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HU-Level Selective 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865376"/>
            <a:ext cx="3337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Post GR for 2 of 10 HUs on a single delivery line. No commercial product offers this as a conversational write. Built via custom ABAP FM Z_EWM_GR_HU_POST3 wrapping /SCDL/CL_SP_PRD_INB — standard A2X has no HU-scoped GR 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79" y="1463040"/>
            <a:ext cx="352044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78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1463040"/>
            <a:ext cx="3520440" cy="347472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152704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EWM Write Operations via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1865376"/>
            <a:ext cx="3337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Task confirmation, partial GR, one-shot STO (create + GI 351 + GR 101 in one call): none of the commercial products expose these as conversational writes. All gated by a single explicit confirmation block.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19" y="1463040"/>
            <a:ext cx="352044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19" y="1463040"/>
            <a:ext cx="3520440" cy="34747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7" y="152704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Custom ABAP FM Bridging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7" y="1865376"/>
            <a:ext cx="3337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Calls bespoke backend logic (Z_EWM_GR_HU_POST3, Z_GOODSMVT_POST4) over SOAP-RFC. Fills gaps where no SAP-released API exists. Only a custom A2A agent can do this — Joule Studio has no SOAP-RFC path.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21608"/>
            <a:ext cx="352044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8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21608"/>
            <a:ext cx="3520440" cy="347472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78561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Multi-Step LLM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123944"/>
            <a:ext cx="3337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LangGraph stateful agent loop — the agent reasons across multiple tool calls (resolve HU → find delivery → confirm → post). Joule Studio skills are powerful but deterministic flows that can't adapt to ambiguous or data-dependent intent.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79" y="3721608"/>
            <a:ext cx="352044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E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9079" y="3721608"/>
            <a:ext cx="3520440" cy="347472"/>
          </a:xfrm>
          <a:prstGeom prst="rect">
            <a:avLst/>
          </a:prstGeom>
          <a:solidFill>
            <a:srgbClr val="6E0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807" y="378561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Open A2A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7" y="4123944"/>
            <a:ext cx="3337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JSON-RPC 2.0 A2A standard — interoperable, not locked to one cloud stack. Skills also registered in Joule Studio so users get BOTH the deterministic Joule flow AND the LLM reasoning path from the same UI.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19" y="3721608"/>
            <a:ext cx="352044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19" y="3721608"/>
            <a:ext cx="3520440" cy="347472"/>
          </a:xfrm>
          <a:prstGeom prst="rect">
            <a:avLst/>
          </a:prstGeom>
          <a:solidFill>
            <a:srgbClr val="C05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7" y="378561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Dry-Run / Test-Run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7" y="4123944"/>
            <a:ext cx="3337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222222"/>
                </a:solidFill>
              </a:rPr>
              <a:t>IV_TESTRUN='X' path validates GR end-to-end (locking, HU matching, GR check) and rolls back without posting. No commercial product exposes this conversationally — useful for operator training and pre-go-live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Gaps &amp; Recommended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From operational parity to enterprise-grade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669280" cy="329184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5179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🔒 UI 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59" y="1517904"/>
            <a:ext cx="914400" cy="219456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5270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850">
                <a:solidFill>
                  <a:srgbClr val="BB0000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847088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80">
                <a:solidFill>
                  <a:srgbClr val="222222"/>
                </a:solidFill>
              </a:rPr>
              <a:t>No SSO / auth on the chat UI — anyone who can reach the URL can submit write operations. Recommended: BTP App Router + XSUAA, or Joule Studio as the primary interface.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6304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63040"/>
            <a:ext cx="5669280" cy="329184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5179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📊 Observability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1517904"/>
            <a:ext cx="914400" cy="219456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79608" y="15270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850">
                <a:solidFill>
                  <a:srgbClr val="BB0000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847088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80">
                <a:solidFill>
                  <a:srgbClr val="222222"/>
                </a:solidFill>
              </a:rPr>
              <a:t>No structured logging, tracing, or alerting. LangSmith is in requirements but not wired. Recommended: LangSmith or OpenTelemetry + CF log drain to Dynatrace.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6324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063240"/>
            <a:ext cx="566928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1181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🛡 CF Stack Currency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118104"/>
            <a:ext cx="914400" cy="21945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1272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850">
                <a:solidFill>
                  <a:srgbClr val="F0AB00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447288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80">
                <a:solidFill>
                  <a:srgbClr val="222222"/>
                </a:solidFill>
              </a:rPr>
              <a:t>cflinuxfs4 (Ubuntu 22.04) is deprecated — new pushes blocked April 2027. Recommended: migrate to cflinuxfs5 before Feb 2027 when it becomes the CF default.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06324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063240"/>
            <a:ext cx="5669280" cy="32918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1181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📱 Mobile / Responsive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3118104"/>
            <a:ext cx="914400" cy="21945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79608" y="31272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850">
                <a:solidFill>
                  <a:srgbClr val="F0AB00"/>
                </a:solidFill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3447288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80">
                <a:solidFill>
                  <a:srgbClr val="222222"/>
                </a:solidFill>
              </a:rPr>
              <a:t>Static HTML chat UI is desktop-only. Warehouse operators increasingly use mobile devices. Recommended: SAP Joule mobile (already supported) or a responsive PWA.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66344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78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663440"/>
            <a:ext cx="5669280" cy="329184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4718303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🔄 Catalog Update Workflow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59" y="4718303"/>
            <a:ext cx="914400" cy="219456"/>
          </a:xfrm>
          <a:prstGeom prst="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7448" y="47274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850">
                <a:solidFill>
                  <a:srgbClr val="078987"/>
                </a:solidFill>
              </a:rP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5047488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80">
                <a:solidFill>
                  <a:srgbClr val="222222"/>
                </a:solidFill>
              </a:rPr>
              <a:t>Rich Skills catalog lives in a static droplet HTML file — not in the repo, not built. Recommended: move catalog data to a JSON config file committed to the repo.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66344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78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4663440"/>
            <a:ext cx="5669280" cy="329184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4718303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</a:rPr>
              <a:t>📋 Doc Sync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61320" y="4718303"/>
            <a:ext cx="914400" cy="219456"/>
          </a:xfrm>
          <a:prstGeom prst="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79608" y="47274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850">
                <a:solidFill>
                  <a:srgbClr val="078987"/>
                </a:solidFill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1928" y="5047488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80">
                <a:solidFill>
                  <a:srgbClr val="222222"/>
                </a:solidFill>
              </a:rPr>
              <a:t>README.md / SKILL.md still reference old FM name Z_EWM_GR_HU_POST / FG ZEWM_GRH. Recommend updating now that Z_EWM_GR_HU_POST3 / ZEWM_HR is verified and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E4FF"/>
                </a:solidFill>
              </a:rPr>
              <a:t>Browser → CF → LangGraph → AI Core → SAP EWM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606060"/>
                </a:solidFill>
              </a:rPr>
              <a:t>SAP EWM Warehouse AI Agent — Benchmark Assessment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1164031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1A6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64592" cy="749808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44752"/>
            <a:ext cx="11640312" cy="274320"/>
          </a:xfrm>
          <a:prstGeom prst="rect">
            <a:avLst/>
          </a:prstGeom>
          <a:solidFill>
            <a:srgbClr val="DC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813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A6EB5"/>
                </a:solidFill>
              </a:rPr>
              <a:t>User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7393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Chat UI (CF / Node+Express+HTML)  ·  Desktop Widget (tkinter / Windows)  ·  SAP Joule Studio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194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606060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0280"/>
            <a:ext cx="1164031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240280"/>
            <a:ext cx="164592" cy="74980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40280"/>
            <a:ext cx="11640312" cy="274320"/>
          </a:xfrm>
          <a:prstGeom prst="rect">
            <a:avLst/>
          </a:prstGeom>
          <a:solidFill>
            <a:srgbClr val="D8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7685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06DD7"/>
                </a:solidFill>
              </a:rPr>
              <a:t>A2A Agent Layer  (CF: warehouse-agent)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6946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Python / LangGraph stateful loop  ·  A2A JSON-RPC 2.0  ·  Gunicorn + Uvicorn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990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606060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35808"/>
            <a:ext cx="1164031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78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035808"/>
            <a:ext cx="164592" cy="7498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035808"/>
            <a:ext cx="11640312" cy="274320"/>
          </a:xfrm>
          <a:prstGeom prst="rect">
            <a:avLst/>
          </a:prstGeom>
          <a:solidFill>
            <a:srgbClr val="D9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723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78987"/>
                </a:solidFill>
              </a:rPr>
              <a:t>LLM — SAP AI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64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FGF: gpt-4.1 (orchestration deployment d83d...)  ·  COE / original: gpt-4o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7856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606060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31335"/>
            <a:ext cx="1164031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831335"/>
            <a:ext cx="164592" cy="749808"/>
          </a:xfrm>
          <a:prstGeom prst="rect">
            <a:avLst/>
          </a:prstGeom>
          <a:solidFill>
            <a:srgbClr val="00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31335"/>
            <a:ext cx="11640312" cy="274320"/>
          </a:xfrm>
          <a:prstGeom prst="rect">
            <a:avLst/>
          </a:prstGeom>
          <a:solidFill>
            <a:srgbClr val="D8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67911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06E5A"/>
                </a:solidFill>
              </a:rPr>
              <a:t>Tools Layer  (47 tools across 16 modules)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60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OData V2 (5 APIs)  ·  OData V4 / A2X (8 APIs)  ·  SOAP-RFC (3: BAPI + 2 custom FMs)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5811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606060"/>
                </a:solidFill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26864"/>
            <a:ext cx="1164031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6E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626864"/>
            <a:ext cx="164592" cy="749808"/>
          </a:xfrm>
          <a:prstGeom prst="rect">
            <a:avLst/>
          </a:prstGeom>
          <a:solidFill>
            <a:srgbClr val="6E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626864"/>
            <a:ext cx="11640312" cy="274320"/>
          </a:xfrm>
          <a:prstGeom prst="rect">
            <a:avLst/>
          </a:prstGeom>
          <a:solidFill>
            <a:srgbClr val="E9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6E3A00"/>
                </a:solidFill>
              </a:rPr>
              <a:t>BTP Connectivity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560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Connectivity Proxy  →  Cloud Connector (FGFDEV)  →  d4hci.sap.fgfbrands.com:44300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5376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606060"/>
                </a:solidFill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422392"/>
            <a:ext cx="1164031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422392"/>
            <a:ext cx="164592" cy="7498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422392"/>
            <a:ext cx="11640312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5896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222222"/>
                </a:solidFill>
              </a:rPr>
              <a:t>SAP S/4HANA EWM  (D4H-200)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75157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Warehouse PBAR / Plant BAR1  ·  Client 200 (data)  ·  Client 100 (custom ABAP code)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53912"/>
            <a:ext cx="12188952" cy="9144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F0AB00"/>
                </a:solidFill>
              </a:rPr>
              <a:t>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FFFFFF"/>
                </a:solidFill>
              </a:rPr>
              <a:t>This agent is production-grade and unique in the SAP EWM ecosystem for 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FFFFFF"/>
                </a:solidFill>
              </a:rPr>
              <a:t>conversational write-operation coverage — especially HU-level selective GR.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2286000" cy="530352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F0AB00"/>
                </a:solidFill>
              </a:rPr>
              <a:t>30/40  overall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1488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CCDDFF"/>
                </a:solidFill>
              </a:rPr>
              <a:t>matches SAP Joule on breadth; leads on EWM write ops and custom API gap-fill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07208"/>
            <a:ext cx="2286000" cy="530352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9864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188F30"/>
                </a:solidFill>
              </a:rPr>
              <a:t>Unique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98648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CCDDFF"/>
                </a:solidFill>
              </a:rPr>
              <a:t>HU-level selective GR (Z_EWM_GR_HU_POST3) — no commercial product covers this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57015"/>
            <a:ext cx="2286000" cy="530352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4845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078987"/>
                </a:solidFill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648456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CCDDFF"/>
                </a:solidFill>
              </a:rPr>
              <a:t>LangGraph + A2A + SAP AI Core; open standard; multi-tenant CF; Joule Studio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06824"/>
            <a:ext cx="2286000" cy="530352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FF8844"/>
                </a:solidFill>
              </a:rPr>
              <a:t>Primary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398264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CCDDFF"/>
                </a:solidFill>
              </a:rPr>
              <a:t>UI authentication, observability, deprecated CF stack — address before wider rollout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56631"/>
            <a:ext cx="2286000" cy="530352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4807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5148071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CCDDFF"/>
                </a:solidFill>
              </a:rPr>
              <a:t>1) Add BTP App Router SSO  2) Wire LangSmith/OTel  3) Migrate to cflinuxfs5  4) Update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910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80A0CC"/>
                </a:solidFill>
              </a:rPr>
              <a:t>SAP EWM Warehouse AI Agent  ·  FGF Brands D4H-200  · 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